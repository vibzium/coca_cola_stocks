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4" d="100"/>
          <a:sy n="74" d="100"/>
        </p:scale>
        <p:origin x="158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15F0-2D95-1A58-D2C0-731814210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21A37-4BB2-F910-7F9E-37C02658B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B655-76B8-8363-65C9-C59A2D2BC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2BE4C-2C41-149A-B712-B6955C8A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52080-54DE-EB8A-6EA7-1BD54EF7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0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C7BF-F184-05D8-CBB8-51842C6E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8962B-DADD-4B5D-5E12-153F66F8F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C66AD-4D0A-4DD2-61D2-C8F2C8FAD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C3AEC-82AD-0550-9B96-841687A2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0A006-68E2-77CE-2FDA-699AC018B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8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72FF-FE0C-698C-9810-B0E449D1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97077-927A-C45B-A4DA-00480DA95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96B63-8B82-F2B6-FD2F-0BD2DE62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11629-A155-291E-BF0F-CC7878663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04E4A-5200-9A8A-E358-C10EE68B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2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5DCB2-174E-2FFA-1923-91BDB11C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C8A71-8A6F-15AE-090C-3CAE06893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63E79-FD9C-C1DC-AB8F-6FE80CB8E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F0200-DAA2-0D65-7FBA-BB018468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B3546-498D-D10D-D57A-6E0C6192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F08C5-1E26-D870-C10F-B535AA89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65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EB4C-C597-A54F-54F0-0B36BBC5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80DD4-BC98-F5B5-0646-A2986D67A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93D3C-A84F-5482-6599-A5B0EF81A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F3FFB-4801-2D1A-B7CC-80623FE36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1A141-0407-BC79-E8F4-21D756706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91BB4-86D2-D9B3-FB1D-005D178B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8F4066-2DC5-2923-8E98-C576F05DF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8C2EC-543A-40BF-AC6F-2B1A05A8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7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21AAD-80D1-E2F1-9853-F1688BAE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B1BB1-B507-4515-8752-43D336CB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043AF-564E-5989-3D1E-CB9B3D5C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F03D8-62FC-1600-C7D5-FC4966A5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71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FE8D3-E87F-DBAB-5A1B-D15F5FB4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2F4E05-2811-02A5-5E4B-2DEFC14F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F19F6-3D32-BC1D-1269-00D9F3547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76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E7FC-5A74-E38A-B4BC-E1B5C616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02AA1-77CE-D63B-E09A-1DC342E4E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09942-F9C8-E2B3-9245-2D46D3E84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667B1-C952-A9ED-6470-09F7B9157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7AE46-D001-B36B-73D7-7A901938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15153-8789-A7FC-413D-3C21558C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FF73-769B-AD61-0CD3-5C8AC519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48D50C-11A5-57C0-261D-37CBCCA85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D657E-D1C8-A94D-5559-D19FE5979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4396D-97F6-4DE5-36A1-FE903A09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77A2E-D736-F90C-037E-46639B24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F11B0-CE48-2101-7DB3-B37DFB43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07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CD2F-AB8E-ACF7-5FD3-20A346E09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439E3-C79E-7E3F-C08A-4F1FB3EBB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57FA1-4FB1-300B-2705-C55EBC80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9E6B3-69E9-4DA1-AF2E-C95E474B9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D08FF-9168-0F92-B46F-602C9D37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8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675D23-706C-10FE-6CFB-0F992C3C1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9A908-EA18-1548-A502-5AC980D9A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270C3-76AB-7538-C6FB-1443AC60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A81E7-32F5-A1F5-9B57-4FBD7EAB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BE5DE-E8D2-80AC-F2D4-D337E529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8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96C61-7CE3-B8B1-2272-73BD78EF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D3686-4EF0-D12D-7E11-B0922FD5B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E2393-0C6F-8859-5ED3-49092BD24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73D57-2BA3-43BF-82E7-A3AD3F8BAA6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A3921-BFC4-9112-9288-99D1FA3BA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F354F-FA20-4511-0E87-F6C3B8350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C3492-A6D5-44DE-9898-6719D9A06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0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78E88-8024-68C7-98FA-4DB124985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r>
              <a:rPr lang="en-US" sz="6600" dirty="0"/>
              <a:t>Coca Cola Stock - Live and Updated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50F34-1E78-177A-A9DD-5A9E4FCF7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0040"/>
            <a:ext cx="9144000" cy="843278"/>
          </a:xfrm>
        </p:spPr>
        <p:txBody>
          <a:bodyPr anchor="ctr">
            <a:normAutofit/>
          </a:bodyPr>
          <a:lstStyle/>
          <a:p>
            <a:r>
              <a:rPr lang="en-US" sz="2800" dirty="0"/>
              <a:t>Historical Data Analysis from 2015–2024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12F19-CCDB-D7C6-858A-1AA20018A73F}"/>
              </a:ext>
            </a:extLst>
          </p:cNvPr>
          <p:cNvSpPr txBox="1"/>
          <p:nvPr/>
        </p:nvSpPr>
        <p:spPr>
          <a:xfrm>
            <a:off x="9055510" y="6204155"/>
            <a:ext cx="2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 Vaibhav Borkar</a:t>
            </a:r>
          </a:p>
        </p:txBody>
      </p:sp>
    </p:spTree>
    <p:extLst>
      <p:ext uri="{BB962C8B-B14F-4D97-AF65-F5344CB8AC3E}">
        <p14:creationId xmlns:p14="http://schemas.microsoft.com/office/powerpoint/2010/main" val="238056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11ED07-4087-BF20-7509-20591693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Project Overview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1288C-2219-CB24-3966-20988CBDE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200" b="1"/>
              <a:t>Objective</a:t>
            </a:r>
            <a:r>
              <a:rPr lang="en-US" sz="2200"/>
              <a:t>: Analyze KO’s historical performance, predict trends, and identify correlations.</a:t>
            </a:r>
          </a:p>
          <a:p>
            <a:r>
              <a:rPr lang="en-US" sz="2200" b="1"/>
              <a:t>Data Scope</a:t>
            </a:r>
            <a:r>
              <a:rPr lang="en-US" sz="2200"/>
              <a:t>: Daily prices (2015–2024), moving averages, returns, and volatility.</a:t>
            </a:r>
          </a:p>
          <a:p>
            <a:r>
              <a:rPr lang="en-US" sz="2200" b="1"/>
              <a:t>Key Tools</a:t>
            </a:r>
            <a:r>
              <a:rPr lang="en-US" sz="2200"/>
              <a:t>:</a:t>
            </a:r>
          </a:p>
          <a:p>
            <a:pPr lvl="1"/>
            <a:r>
              <a:rPr lang="en-US" sz="2200" b="1"/>
              <a:t>Python</a:t>
            </a:r>
            <a:r>
              <a:rPr lang="en-US" sz="2200"/>
              <a:t>: Random Forest modeling, correlation heatmaps.</a:t>
            </a:r>
          </a:p>
          <a:p>
            <a:pPr lvl="1"/>
            <a:r>
              <a:rPr lang="en-US" sz="2200" b="1"/>
              <a:t>SQL</a:t>
            </a:r>
            <a:r>
              <a:rPr lang="en-US" sz="2200"/>
              <a:t>: Data querying and aggregation.</a:t>
            </a:r>
          </a:p>
          <a:p>
            <a:pPr lvl="1"/>
            <a:r>
              <a:rPr lang="en-US" sz="2200" b="1"/>
              <a:t>Excel</a:t>
            </a:r>
            <a:r>
              <a:rPr lang="en-US" sz="2200"/>
              <a:t>: Preliminary cleaning and visualization.</a:t>
            </a:r>
            <a:br>
              <a:rPr lang="en-US" sz="2200"/>
            </a:br>
            <a:r>
              <a:rPr lang="en-US" sz="2200" b="1"/>
              <a:t>Visual</a:t>
            </a:r>
            <a:r>
              <a:rPr lang="en-US" sz="2200"/>
              <a:t>: Icons of Python/SQL/Excel 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56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5A5F1D7-F0D0-4687-9BD3-CA6A0714C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8FF80-1D62-D16F-3175-4FEF28DDB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US" sz="3600" b="1"/>
              <a:t>Historical Performance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AE785-3A16-F97B-63F3-BD3E25C12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sz="1800"/>
              <a:t>Line chart of close price with:</a:t>
            </a:r>
          </a:p>
          <a:p>
            <a:pPr lvl="1"/>
            <a:r>
              <a:rPr lang="en-US" sz="1800" b="1"/>
              <a:t>50-Day MA</a:t>
            </a:r>
            <a:r>
              <a:rPr lang="en-US" sz="1800"/>
              <a:t> (smoothing trend).</a:t>
            </a:r>
          </a:p>
          <a:p>
            <a:pPr lvl="1"/>
            <a:r>
              <a:rPr lang="en-US" sz="1800" b="1"/>
              <a:t>COVID-19 bottom</a:t>
            </a:r>
            <a:r>
              <a:rPr lang="en-US" sz="1800"/>
              <a:t> (March 2020).</a:t>
            </a:r>
          </a:p>
          <a:p>
            <a:r>
              <a:rPr lang="en-US" sz="1800" b="1"/>
              <a:t>Insight</a:t>
            </a:r>
            <a:r>
              <a:rPr lang="en-US" sz="1800"/>
              <a:t>: Resilient recovery post-pandemic, with 10.7% CAGR since 1919.</a:t>
            </a:r>
          </a:p>
        </p:txBody>
      </p:sp>
      <p:pic>
        <p:nvPicPr>
          <p:cNvPr id="5" name="Picture 4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1C280508-8327-1B5F-4B7E-50199FF48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6" r="527" b="-2"/>
          <a:stretch>
            <a:fillRect/>
          </a:stretch>
        </p:blipFill>
        <p:spPr>
          <a:xfrm>
            <a:off x="6788383" y="613148"/>
            <a:ext cx="4565417" cy="26791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608574-13A2-C8D0-9161-52024E46B2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56" r="4" b="4"/>
          <a:stretch>
            <a:fillRect/>
          </a:stretch>
        </p:blipFill>
        <p:spPr>
          <a:xfrm>
            <a:off x="6788383" y="3528753"/>
            <a:ext cx="4565417" cy="2679192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918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2F367-FDE7-6E3B-DBEB-115BD756B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300" b="1"/>
              <a:t>Model Predictions vs True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101CB-CA7D-7307-77A4-2124B957F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sz="1800" b="1"/>
              <a:t>Key Metrics</a:t>
            </a:r>
            <a:r>
              <a:rPr lang="en-US" sz="1800"/>
              <a:t>:</a:t>
            </a:r>
          </a:p>
          <a:p>
            <a:pPr lvl="1"/>
            <a:r>
              <a:rPr lang="en-US" sz="1800" b="1"/>
              <a:t>R²</a:t>
            </a:r>
            <a:r>
              <a:rPr lang="en-US" sz="1800"/>
              <a:t>: 0.92 (92% variance explained)</a:t>
            </a:r>
          </a:p>
          <a:p>
            <a:pPr lvl="1"/>
            <a:r>
              <a:rPr lang="en-US" sz="1800" b="1"/>
              <a:t>RMSE</a:t>
            </a:r>
            <a:r>
              <a:rPr lang="en-US" sz="1800"/>
              <a:t>: $2.50 (avg. error)</a:t>
            </a:r>
          </a:p>
          <a:p>
            <a:r>
              <a:rPr lang="en-US" sz="1800" b="1"/>
              <a:t>Strengths</a:t>
            </a:r>
            <a:r>
              <a:rPr lang="en-US" sz="1800"/>
              <a:t>:</a:t>
            </a:r>
          </a:p>
          <a:p>
            <a:pPr lvl="1"/>
            <a:r>
              <a:rPr lang="en-US" sz="1800"/>
              <a:t>Captures long-term trends</a:t>
            </a:r>
          </a:p>
          <a:p>
            <a:pPr lvl="1"/>
            <a:r>
              <a:rPr lang="en-US" sz="1800"/>
              <a:t>Handles noise (uses 50-day MA)</a:t>
            </a:r>
          </a:p>
          <a:p>
            <a:r>
              <a:rPr lang="en-US" sz="1800" b="1"/>
              <a:t>Limitations</a:t>
            </a:r>
            <a:r>
              <a:rPr lang="en-US" sz="1800"/>
              <a:t>:</a:t>
            </a:r>
          </a:p>
          <a:p>
            <a:pPr lvl="1"/>
            <a:r>
              <a:rPr lang="en-US" sz="1800"/>
              <a:t>Underestimates extreme moves (e.g., COVID crash)</a:t>
            </a:r>
          </a:p>
          <a:p>
            <a:pPr marL="0" indent="0">
              <a:buNone/>
            </a:pPr>
            <a:endParaRPr lang="en-US" sz="1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6E72C742-2CAD-991F-0D66-831553CF3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493" y="2376934"/>
            <a:ext cx="4223252" cy="2164416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839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76514-26B4-088F-CAAA-26AF5AC8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300" b="1"/>
              <a:t>Key Relationships in KO Stock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6097-B6C7-68FE-EDFC-9527933AD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sz="1800" b="1"/>
              <a:t>Price Metrics</a:t>
            </a:r>
            <a:r>
              <a:rPr lang="en-US" sz="1800"/>
              <a:t>:</a:t>
            </a:r>
          </a:p>
          <a:p>
            <a:pPr lvl="1"/>
            <a:r>
              <a:rPr lang="en-US" sz="1800"/>
              <a:t>Close, High, Low, Open prices nearly perfectly correlated (1.0)</a:t>
            </a:r>
          </a:p>
          <a:p>
            <a:r>
              <a:rPr lang="en-US" sz="1800" b="1"/>
              <a:t>Moving Averages</a:t>
            </a:r>
            <a:r>
              <a:rPr lang="en-US" sz="1800"/>
              <a:t>:</a:t>
            </a:r>
          </a:p>
          <a:p>
            <a:pPr lvl="1"/>
            <a:r>
              <a:rPr lang="en-US" sz="1800"/>
              <a:t>MA_20 &amp; MA_50 show strong correlation (0.99) with prices</a:t>
            </a:r>
          </a:p>
          <a:p>
            <a:r>
              <a:rPr lang="en-US" sz="1800" b="1"/>
              <a:t>Volume</a:t>
            </a:r>
            <a:r>
              <a:rPr lang="en-US" sz="1800"/>
              <a:t>:</a:t>
            </a:r>
          </a:p>
          <a:p>
            <a:pPr lvl="1"/>
            <a:r>
              <a:rPr lang="en-US" sz="1800"/>
              <a:t>Weak link to price (0.07 correlation)</a:t>
            </a:r>
          </a:p>
          <a:p>
            <a:pPr lvl="1"/>
            <a:r>
              <a:rPr lang="en-US" sz="1800"/>
              <a:t>But moderate tie to volatility (0.39)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ed and blue heat map&#10;&#10;AI-generated content may be incorrect.">
            <a:extLst>
              <a:ext uri="{FF2B5EF4-FFF2-40B4-BE49-F238E27FC236}">
                <a16:creationId xmlns:a16="http://schemas.microsoft.com/office/drawing/2014/main" id="{53E4AA8A-D5B7-7A77-B2C4-9603D54CE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493" y="1548120"/>
            <a:ext cx="4223252" cy="3822043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766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DD0986-CFC3-C6AC-F834-81D2F58B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 b="1"/>
              <a:t>Volatility &amp; Risk Analysis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B417F-1FBD-2CC2-3FAB-DFDBA3004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sz="1700" b="1"/>
              <a:t>Volatility Trends</a:t>
            </a:r>
            <a:r>
              <a:rPr lang="en-US" sz="1700"/>
              <a:t>:</a:t>
            </a:r>
          </a:p>
          <a:p>
            <a:pPr lvl="1"/>
            <a:r>
              <a:rPr lang="en-US" sz="1700" b="1"/>
              <a:t>2020</a:t>
            </a:r>
            <a:r>
              <a:rPr lang="en-US" sz="1700"/>
              <a:t>: Highest volatility (σ = 3.5%) due to COVID-19</a:t>
            </a:r>
          </a:p>
          <a:p>
            <a:pPr lvl="1"/>
            <a:r>
              <a:rPr lang="en-US" sz="1700" b="1"/>
              <a:t>2017/2019</a:t>
            </a:r>
            <a:r>
              <a:rPr lang="en-US" sz="1700"/>
              <a:t>: Most stable years (σ &lt; 1%)</a:t>
            </a:r>
          </a:p>
          <a:p>
            <a:r>
              <a:rPr lang="en-US" sz="1700" b="1"/>
              <a:t>Daily Returns</a:t>
            </a:r>
            <a:r>
              <a:rPr lang="en-US" sz="1700"/>
              <a:t>:</a:t>
            </a:r>
          </a:p>
          <a:p>
            <a:pPr lvl="1"/>
            <a:r>
              <a:rPr lang="en-US" sz="1700" b="1"/>
              <a:t>Average return</a:t>
            </a:r>
            <a:r>
              <a:rPr lang="en-US" sz="1700"/>
              <a:t>: 0.02%</a:t>
            </a:r>
          </a:p>
          <a:p>
            <a:pPr lvl="1"/>
            <a:r>
              <a:rPr lang="en-US" sz="1700" b="1"/>
              <a:t>Fat-tailed distribution</a:t>
            </a:r>
            <a:r>
              <a:rPr lang="en-US" sz="1700"/>
              <a:t>: Frequent extreme moves (&gt;3σ events)</a:t>
            </a:r>
          </a:p>
          <a:p>
            <a:r>
              <a:rPr lang="en-US" sz="1700" b="1"/>
              <a:t>Risk-Return Profile</a:t>
            </a:r>
            <a:r>
              <a:rPr lang="en-US" sz="1700"/>
              <a:t>:</a:t>
            </a:r>
          </a:p>
          <a:p>
            <a:pPr lvl="1"/>
            <a:r>
              <a:rPr lang="en-US" sz="1700"/>
              <a:t>Sharpe ratio: 0.8 (consistent but moderate risk-adjusted returns)</a:t>
            </a:r>
          </a:p>
          <a:p>
            <a:pPr lvl="1"/>
            <a:r>
              <a:rPr lang="en-US" sz="1700"/>
              <a:t>Drawdowns: Worst was -15% (2020)</a:t>
            </a:r>
          </a:p>
          <a:p>
            <a:endParaRPr lang="en-US" sz="17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showing a sound wave&#10;&#10;AI-generated content may be incorrect.">
            <a:extLst>
              <a:ext uri="{FF2B5EF4-FFF2-40B4-BE49-F238E27FC236}">
                <a16:creationId xmlns:a16="http://schemas.microsoft.com/office/drawing/2014/main" id="{77F01DB0-8432-96CE-B0F8-2435CDA21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493" y="2339980"/>
            <a:ext cx="4223252" cy="2238323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639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298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Coca Cola Stock - Live and Updated</vt:lpstr>
      <vt:lpstr>Project Overview</vt:lpstr>
      <vt:lpstr>Historical Performance</vt:lpstr>
      <vt:lpstr>Model Predictions vs True Values</vt:lpstr>
      <vt:lpstr>Key Relationships in KO Stock Data</vt:lpstr>
      <vt:lpstr>Volatility &amp; Risk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Vaidhavi Borkar</dc:creator>
  <cp:lastModifiedBy>Vaidhavi Borkar</cp:lastModifiedBy>
  <cp:revision>1</cp:revision>
  <dcterms:created xsi:type="dcterms:W3CDTF">2025-06-07T12:39:02Z</dcterms:created>
  <dcterms:modified xsi:type="dcterms:W3CDTF">2025-06-07T13:04:40Z</dcterms:modified>
</cp:coreProperties>
</file>